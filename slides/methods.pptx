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7A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C0C0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Gradient masking &amp; statistical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F6DDDD"/>
                </a:solidFill>
                <a:latin typeface="Calibri"/>
              </a:rPr>
              <a:t>How we remove gradient components — and how we compare reconstructions rigorously.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C8C8"/>
                </a:solidFill>
                <a:latin typeface="Calibri"/>
              </a:rPr>
              <a:t>Within-image paired design · leave-one-layer-out ablation · Shapiro–Wilk normality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METHODS — GRADIENT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What masking is, and why it might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Inversion matches the observed gradient by optimization — but not all gradient entries help equally.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Some carry useful input information; others add poorly conditioned optimization directions.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Masking = selectively removing subsets of the gradient before reconstruction.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Fewer gradients to match + potentially better numerical conditioning.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990000"/>
                </a:solidFill>
                <a:latin typeface="Calibri"/>
              </a:rPr>
              <a:t>—  The central tradeoff.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Removing entries can ease optimization, but also removes information — masking must drop redundant / poorly conditioned entries while preserving independent constraints.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Diagnostic use: if a smaller subset reconstructs better than the full gradient, the information was present but hard to extract.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691640"/>
            <a:ext cx="4526280" cy="2331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1691640"/>
            <a:ext cx="91440" cy="23317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4160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990000"/>
                </a:solidFill>
                <a:latin typeface="Calibri"/>
              </a:rPr>
              <a:t>Necessary condition
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Reconstruction needs the gradient Jacobian J(x)=∂g/∂x to have full column rank (rank = d = 3,072 for 3×32×32).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n ≥ d is necessary but not sufficient — entries can be linearly dependent. Rank is verified after masking (Sec. 5.1).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206240"/>
            <a:ext cx="4526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55555"/>
                </a:solidFill>
                <a:latin typeface="Calibri"/>
              </a:rPr>
              <a:t>So observed PSNR differences reflect optimization conditioning, not lost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METHODS — GRADIENT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How we mask: paired design &amp; two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sk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6885"/>
            <a:ext cx="6766560" cy="30356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Leave-one-layer-out ablation: baseline retains all groups; each masked run excludes exactly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55448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22222"/>
                </a:solidFill>
                <a:latin typeface="Calibri"/>
              </a:rPr>
              <a:t>—  Paired, within-image design.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Same image, same network init: baseline vs. masked differ only by masking. Label fixed via iDLG, batch size 1.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F6DB0"/>
                </a:solidFill>
                <a:latin typeface="Calibri"/>
              </a:rPr>
              <a:t>—  Layer-wise ablation.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prefix_topfrac_entries_layer, fraction 1.0 → binary leave-one-group-out. 30 CIFAR-100 images × 4 settings (2 loss/optimizer × 2 weight regimes).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F6DB0"/>
                </a:solidFill>
                <a:latin typeface="Calibri"/>
              </a:rPr>
              <a:t>—  Masking-percentage sweep.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gradsize_topfrac_entries_layer: keep the top fraction f of entries by |gradient| within each tensor; vary f. 100 CIFAR-100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METHODS — NORMALITY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Can we use parametric statistics?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Paired per-image difference is the unit of analysis.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dᵢ = PSNR_masked − PSNR_baseline on the same image 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A paired t-test would assume the dᵢ are normal — but reconstruction difficulty varies wildly across images.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Normality is assessed, not presumed.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990000"/>
                </a:solidFill>
                <a:latin typeface="Calibri"/>
              </a:rPr>
              <a:t>—  Shapiro–Wilk test, α = 0.05.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Applied to PSNR, MSE and SSIM differences per configuration; W ∈ (0,1], values near 1 = consistent with normality.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Metric choice matters (see right).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MSE ≥ 0 is right-skewed; PSNR’s log10 compresses the tail, so it is more likely to pass the test.</a:t>
            </a:r>
          </a:p>
        </p:txBody>
      </p:sp>
      <p:pic>
        <p:nvPicPr>
          <p:cNvPr id="7" name="Picture 6" descr="normality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247"/>
            <a:ext cx="5669280" cy="23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507492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55555"/>
                </a:solidFill>
                <a:latin typeface="Calibri"/>
              </a:rPr>
              <a:t>Schematic — illustrates the distribution-shape argument, not measured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990000"/>
                </a:solidFill>
                <a:latin typeface="Calibri"/>
              </a:rPr>
              <a:t>METHODS — NORMALITY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Outcome and consequence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990000"/>
                </a:solidFill>
                <a:latin typeface="Calibri"/>
              </a:rPr>
              <a:t>—  Normality is rejected for almost all configurations.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Per-condition Shapiro–Wilk p-values are tabulated in Appendix C; MSE differences fail most often (frequently p &lt; 0.001), PSNR passes more often as expected from the log transform.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Small samples contribute.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With only 30 paired differences per condition, a few outlying images pull the distribution away from normality and the test has limited power against mild deviations.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22222"/>
                </a:solidFill>
                <a:latin typeface="Calibri"/>
              </a:rPr>
              <a:t>—  Independence holds by construction.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Each dᵢ comes from a distinct image with an independently initialized network.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92040"/>
            <a:ext cx="11091672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892040"/>
            <a:ext cx="109728" cy="123444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990000"/>
                </a:solidFill>
                <a:latin typeface="Calibri"/>
              </a:rPr>
              <a:t>Consequence: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the paired t-test assumption does not hold, so results are reported with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descriptive statistics (mean ± SD) and box / violin plots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rather than parametric p-values.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Stabilizing Gradient Inversion in Federated Learning ·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